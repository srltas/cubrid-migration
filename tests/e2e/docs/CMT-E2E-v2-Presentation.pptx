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07"/>
    <p:restoredTop sz="94610"/>
  </p:normalViewPr>
  <p:slideViewPr>
    <p:cSldViewPr snapToGrid="0" snapToObjects="1">
      <p:cViewPr varScale="1">
        <p:scale>
          <a:sx n="88" d="100"/>
          <a:sy n="88" d="100"/>
        </p:scale>
        <p:origin x="184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90803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2 · 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11430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데이터 흐름 한눈에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1097280" cy="36576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31520" y="2194560"/>
            <a:ext cx="292608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 DB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97280" y="278892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11g XE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CUBRID 11.4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17720" y="2194560"/>
            <a:ext cx="2926080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617720" y="233172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migration.sh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892040" y="278892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  → script.xml 생성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   → 실제 마이그레이션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503920" y="2194560"/>
            <a:ext cx="292608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8503920" y="233172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869680" y="278892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CUBRID online (target DB)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또는 dump 파일 트리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749040" y="2834640"/>
            <a:ext cx="777240" cy="0"/>
          </a:xfrm>
          <a:prstGeom prst="line">
            <a:avLst/>
          </a:prstGeom>
          <a:noFill/>
          <a:ln w="3810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7635240" y="2834640"/>
            <a:ext cx="777240" cy="0"/>
          </a:xfrm>
          <a:prstGeom prst="line">
            <a:avLst/>
          </a:prstGeom>
          <a:noFill/>
          <a:ln w="3810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731520" y="4206240"/>
            <a:ext cx="10698480" cy="1417320"/>
          </a:xfrm>
          <a:prstGeom prst="rect">
            <a:avLst/>
          </a:prstGeom>
          <a:solidFill>
            <a:srgbClr val="CADCFC"/>
          </a:solidFill>
          <a:ln w="1270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914400" y="42976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v2 Framework (Java)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4400" y="461772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/ Target  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컨테이너 부팅 + seed 적용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runner  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db.conf + script.xml 동적 생성, sanitize, start 실행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 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catalog/dump/row 결과를 snapshot 골든과 비교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5852160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4A6F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"실제 DB → migration.sh → 실제 DB.  정말로 옮겨졌는지 검증한다."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0292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CMT Console E2E v2  •  발표자료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972800" y="65379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2 · 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11430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4-Layer 검증 모델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1097280" cy="36576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@Test 메서드 = 정확히 한 layer 의 한 사실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057400"/>
            <a:ext cx="914400" cy="9601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40080" y="21488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25603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691640" y="2057400"/>
            <a:ext cx="97383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87452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CMT 가 죽지 않았는가?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874520" y="251460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exit 0 + "MIGRATION RESULT: SUCCESS" + no fatal stderr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3136392"/>
            <a:ext cx="914400" cy="960120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640080" y="32278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40080" y="363931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691640" y="3136392"/>
            <a:ext cx="97383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1874520" y="3227832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객체가 누락 없이 옮겨졌는가?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874520" y="3593592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catalog snapshot (classes / synonyms / routines / grants / dump tree)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4215384"/>
            <a:ext cx="914400" cy="960120"/>
          </a:xfrm>
          <a:prstGeom prst="rect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640080" y="4306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40080" y="471830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FIDELITY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1691640" y="4215384"/>
            <a:ext cx="97383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1874520" y="4306824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값/타입이 정확한가?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874520" y="467258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columns / indexes / serials / row_counts / representative_rows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40080" y="5294376"/>
            <a:ext cx="914400" cy="960120"/>
          </a:xfrm>
          <a:prstGeom prst="rect">
            <a:avLst/>
          </a:prstGeom>
          <a:solidFill>
            <a:srgbClr val="E8554E"/>
          </a:solidFill>
          <a:ln w="12700">
            <a:solidFill>
              <a:srgbClr val="E8554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640080" y="53858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L4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40080" y="57972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691640" y="5294376"/>
            <a:ext cx="97383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1874520" y="5385816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알려진 bug 가 회귀하지 않는가?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874520" y="5751576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query("SELECT…").firstColumn() 로 단일 사실 검증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0292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CMT Console E2E v2  •  발표자료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0" y="65379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2 · CORE CONCEPT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11430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Snapshot — 시험지·답안지·정답지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1097280" cy="36576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338328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4A6FA5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640080" y="1691640"/>
            <a:ext cx="3383280" cy="73152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822960" y="1828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4A6F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📝  문제지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queries/oracle_to_cubrid.sql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" y="25146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"고객 1번의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customer_code,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credit_limit 은?"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0" y="1691640"/>
            <a:ext cx="338328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4389120" y="1691640"/>
            <a:ext cx="3383280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4572000" y="1828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📊  답안지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572000" y="21945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runtime 결과 (CMT 실행 후)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0" y="25146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C001 | A | 12500.75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38160" y="1691640"/>
            <a:ext cx="338328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B998B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8138160" y="1691640"/>
            <a:ext cx="3383280" cy="73152"/>
          </a:xfrm>
          <a:prstGeom prst="rect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8321040" y="1828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✅  정답지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321040" y="21945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snapshots/.../representative_rows.txt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321040" y="25146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C001 | A | 12500.75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golden file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023360" y="2400300"/>
            <a:ext cx="36576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7772400" y="2400300"/>
            <a:ext cx="36576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502920" y="3520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두 가지 실행 모드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40080" y="4023360"/>
            <a:ext cx="5394960" cy="2011680"/>
          </a:xfrm>
          <a:prstGeom prst="rect">
            <a:avLst/>
          </a:prstGeom>
          <a:solidFill>
            <a:srgbClr val="FFFFFF"/>
          </a:solidFill>
          <a:ln w="254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822960" y="4160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회귀 모드 (default)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22960" y="4617720"/>
            <a:ext cx="5029200" cy="457200"/>
          </a:xfrm>
          <a:prstGeom prst="rect">
            <a:avLst/>
          </a:prstGeom>
          <a:solidFill>
            <a:srgbClr val="F1F3F7"/>
          </a:solidFill>
          <a:ln w="12700">
            <a:solidFill>
              <a:srgbClr val="F1F3F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960120" y="463600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mvn test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22960" y="521208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파일과 actual 결과 비교</a:t>
            </a:r>
            <a:endParaRPr lang="en-US" sz="1200" dirty="0"/>
          </a:p>
          <a:p>
            <a:pPr marL="342900" indent="-342900">
              <a:buSzPct val="100000"/>
              <a:buChar char="●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다르면 AssertionError + first-diff 위치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63640" y="4023360"/>
            <a:ext cx="5394960" cy="2011680"/>
          </a:xfrm>
          <a:prstGeom prst="rect">
            <a:avLst/>
          </a:prstGeom>
          <a:solidFill>
            <a:srgbClr val="FFFFFF"/>
          </a:solidFill>
          <a:ln w="25400">
            <a:solidFill>
              <a:srgbClr val="E8554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6446520" y="4160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55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캡처 모드 (수동 갱신)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46520" y="4617720"/>
            <a:ext cx="5029200" cy="457200"/>
          </a:xfrm>
          <a:prstGeom prst="rect">
            <a:avLst/>
          </a:prstGeom>
          <a:solidFill>
            <a:srgbClr val="F1F3F7"/>
          </a:solidFill>
          <a:ln w="12700">
            <a:solidFill>
              <a:srgbClr val="F1F3F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6583680" y="463600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mvn test -Dsnapshot.update=true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446520" y="521208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결과를 snapshot 에 그대로 덮어쓰기</a:t>
            </a:r>
            <a:endParaRPr lang="en-US" sz="1200" dirty="0"/>
          </a:p>
          <a:p>
            <a:pPr marL="342900" indent="-342900">
              <a:buSzPct val="100000"/>
              <a:buChar char="●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사람이 git diff 로 review 후 commit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0292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CMT Console E2E v2  •  발표자료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972800" y="65379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2 · BEFORE / AFTER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11430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PoC vs v2 — 코드의 모습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1097280" cy="36576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5486400" cy="3931920"/>
          </a:xfrm>
          <a:prstGeom prst="rect">
            <a:avLst/>
          </a:prstGeom>
          <a:solidFill>
            <a:srgbClr val="FFFFFF"/>
          </a:solidFill>
          <a:ln w="25400">
            <a:solidFill>
              <a:srgbClr val="E8554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640080" y="1691640"/>
            <a:ext cx="5486400" cy="411480"/>
          </a:xfrm>
          <a:prstGeom prst="rect">
            <a:avLst/>
          </a:prstGeom>
          <a:solidFill>
            <a:srgbClr val="E8554E"/>
          </a:solidFill>
          <a:ln w="12700">
            <a:solidFill>
              <a:srgbClr val="E8554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822960" y="171907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PoC (이전)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22960" y="2286000"/>
            <a:ext cx="5120640" cy="2606040"/>
          </a:xfrm>
          <a:prstGeom prst="rect">
            <a:avLst/>
          </a:prstGeom>
          <a:solidFill>
            <a:srgbClr val="F1F3F7"/>
          </a:solidFill>
          <a:ln w="12700">
            <a:solidFill>
              <a:srgbClr val="F1F3F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914400" y="2331720"/>
            <a:ext cx="49377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@Test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migrate()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expectIndexes(target,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"e2e_db", "MAIN",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List.of(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index("e2e_cust",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"pk_e2e_...",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true, true,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false, 1, false),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index(...),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... 11 lines more ...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));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498348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메서드 = 14 종 검증 한꺼번에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클래스 = 315 LOC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55080" y="1691640"/>
            <a:ext cx="5486400" cy="3931920"/>
          </a:xfrm>
          <a:prstGeom prst="rect">
            <a:avLst/>
          </a:prstGeom>
          <a:solidFill>
            <a:srgbClr val="FFFFFF"/>
          </a:solidFill>
          <a:ln w="254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6355080" y="1691640"/>
            <a:ext cx="5486400" cy="411480"/>
          </a:xfrm>
          <a:prstGeom prst="rect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6537960" y="171907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v2 (현재)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537960" y="2286000"/>
            <a:ext cx="5120640" cy="2606040"/>
          </a:xfrm>
          <a:prstGeom prst="rect">
            <a:avLst/>
          </a:prstGeom>
          <a:solidFill>
            <a:srgbClr val="F1F3F7"/>
          </a:solidFill>
          <a:ln w="12700">
            <a:solidFill>
              <a:srgbClr val="F1F3F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629400" y="2331720"/>
            <a:ext cx="49377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@Test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@DisplayName("Oracle SEQUENCE</a:t>
            </a:r>
            <a:r>
              <a:rPr lang="en-US" sz="1100" dirty="0"/>
              <a:t> </a:t>
            </a: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CUBRID SERIAL preserved")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serials_match_snapshot()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run().catalog()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.matchesSnapshot("serials");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537960" y="498348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메서드 = 1 사실 검증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클래스 = 95 LOC, 10 @Test 분리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5852160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배 더 자세한 신호.  그러나 더 짧은 코드.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0292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CMT Console E2E v2  •  발표자료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972800" y="65379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2 · LAYOUT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11430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디렉터리 구조 — Java + Resources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1097280" cy="36576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11064240" cy="4297680"/>
          </a:xfrm>
          <a:prstGeom prst="rect">
            <a:avLst/>
          </a:prstGeom>
          <a:solidFill>
            <a:srgbClr val="F1F3F7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77240" y="1783080"/>
            <a:ext cx="10881360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tests/e2e/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docs/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ARCHITECTURE.md           ← 전체 설계 문서 (D1~D13 ADR)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seed/&lt;db&gt;/SEED_SPEC.md    ← DB 별 seed 명세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src/test/java/com/cmt/e2e/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framework/                ← v2 building blocks (9 패키지)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│   ├── env/                   CMT_CONSOLE_HOME 검증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│   ├── source/                컨테이너 + seed 묶음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│   ├── target/                online or dump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│   ├── command/               migration.sh 자식 프로세스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│   ├── runner/                Migration + script.xml builder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│   ├── verify/                snapshot 비교 도구 + 검증 entry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│   ├── junit/                 AbstractMigrationE2E (lifecycle)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│   ├── core/                  CmtTestContext, TestPaths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│   └── db/                    Container + Initializer + Drivers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│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tests/                    ← TC 들이 사는 곳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    ├── cli/CliTest.java       (8 @Test)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    └── migration/{oracle,cubrid}/{ToCubrid,ToDump}Test.java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src/test/resources/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├── db/&lt;engine&gt;/{init,ref_schema,main_schema}/V*.sql   ← Flyway seed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├── queries/&lt;scenario&gt;.sql                             ← 검증용 SQL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└── snapshots/&lt;scenario&gt;/...                           ← golden 결과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2920" y="6080760"/>
            <a:ext cx="11338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4A6F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핵심:  Java 코드는 "무엇을 검증할지"만 정의.  "정답"은 모두 resources/snapshots/ 에 외부화.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CMT Console E2E v2  •  발표자료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972800" y="65379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2 · ABSTRACTIONS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11430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핵심 building block + Lifecycle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1097280" cy="36576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208483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640080" y="1691640"/>
            <a:ext cx="2084832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1901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240280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컨테이너 + seed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907792" y="1691640"/>
            <a:ext cx="208483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2907792" y="1691640"/>
            <a:ext cx="2084832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2999232" y="1828800"/>
            <a:ext cx="1901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99232" y="2240280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or dump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175504" y="1691640"/>
            <a:ext cx="208483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5175504" y="1691640"/>
            <a:ext cx="2084832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5266944" y="1828800"/>
            <a:ext cx="1901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Migration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266944" y="2240280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CMT 실행 runner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443216" y="1691640"/>
            <a:ext cx="208483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7443216" y="1691640"/>
            <a:ext cx="2084832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7534656" y="1828800"/>
            <a:ext cx="1901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MigrationOutcome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534656" y="2240280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 verify entry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710928" y="1691640"/>
            <a:ext cx="208483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9710928" y="1691640"/>
            <a:ext cx="2084832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9802368" y="1828800"/>
            <a:ext cx="1901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verify/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802368" y="2240280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비교 도구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743200" y="2194560"/>
            <a:ext cx="146304" cy="0"/>
          </a:xfrm>
          <a:prstGeom prst="line">
            <a:avLst/>
          </a:prstGeom>
          <a:noFill/>
          <a:ln w="25400">
            <a:solidFill>
              <a:srgbClr val="4A6FA5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5010912" y="2194560"/>
            <a:ext cx="146304" cy="0"/>
          </a:xfrm>
          <a:prstGeom prst="line">
            <a:avLst/>
          </a:prstGeom>
          <a:noFill/>
          <a:ln w="25400">
            <a:solidFill>
              <a:srgbClr val="4A6FA5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7278624" y="2194560"/>
            <a:ext cx="146304" cy="0"/>
          </a:xfrm>
          <a:prstGeom prst="line">
            <a:avLst/>
          </a:prstGeom>
          <a:noFill/>
          <a:ln w="25400">
            <a:solidFill>
              <a:srgbClr val="4A6FA5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9546336" y="2194560"/>
            <a:ext cx="146304" cy="0"/>
          </a:xfrm>
          <a:prstGeom prst="line">
            <a:avLst/>
          </a:prstGeom>
          <a:noFill/>
          <a:ln w="25400">
            <a:solidFill>
              <a:srgbClr val="4A6FA5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502920" y="2971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Lifecycle — 한 클래스의 시간축 (PER_CLASS)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640080" y="3611880"/>
            <a:ext cx="11064240" cy="5486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1783080" y="3703320"/>
            <a:ext cx="365760" cy="365760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594360" y="4206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@BeforeAll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989320" y="3703320"/>
            <a:ext cx="365760" cy="365760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4800600" y="4206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@Test × N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0195560" y="3703320"/>
            <a:ext cx="365760" cy="365760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9006840" y="4206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@AfterAll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40080" y="4617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@BeforeAll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926080" y="461772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start  +  seed  +  Migration.run()  →  outcome 캐시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40080" y="4983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@Test × N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2926080" y="498348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테스트가 캐시된 outcome 을 read-only 검증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40080" y="53492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@AfterAll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2926080" y="534924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close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40080" y="5760720"/>
            <a:ext cx="11064240" cy="731520"/>
          </a:xfrm>
          <a:prstGeom prst="rect">
            <a:avLst/>
          </a:prstGeom>
          <a:solidFill>
            <a:srgbClr val="CADCFC"/>
          </a:solidFill>
          <a:ln w="1270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/>
          <p:nvPr/>
        </p:nvSpPr>
        <p:spPr>
          <a:xfrm>
            <a:off x="868680" y="58978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핵심: 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컨테이너 부팅과 CMT 실행은 </a:t>
            </a: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클래스당 1회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각 @Test 는 캐시된 결과를 read-only 검증 → 빠르고 독립적.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50292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CMT Console E2E v2  •  발표자료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0972800" y="65379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3 · TC OVERVIEW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11430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32개 테스트 — 두 그룹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1097280" cy="36576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3657600" cy="4572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13000" dirty="0"/>
          </a:p>
        </p:txBody>
      </p:sp>
      <p:sp>
        <p:nvSpPr>
          <p:cNvPr id="8" name="Text 6"/>
          <p:cNvSpPr/>
          <p:nvPr/>
        </p:nvSpPr>
        <p:spPr>
          <a:xfrm>
            <a:off x="640080" y="3840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kern="0" spc="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tests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49377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 @Disabled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단위 테스트 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26280" y="1691640"/>
            <a:ext cx="7178040" cy="1828800"/>
          </a:xfrm>
          <a:prstGeom prst="rect">
            <a:avLst/>
          </a:prstGeom>
          <a:solidFill>
            <a:srgbClr val="FFFFFF"/>
          </a:solidFill>
          <a:ln w="2540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4526280" y="1691640"/>
            <a:ext cx="109728" cy="1828800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4754880" y="178308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A6F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🟢  CLI (8)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754880" y="2194560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CliTest  ─  migration.sh 자체 검증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54880" y="2542032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컨테이너 없음, 빠름 (~5초 합계)</a:t>
            </a:r>
            <a:endParaRPr lang="en-US" sz="1200" dirty="0"/>
          </a:p>
          <a:p>
            <a:pPr marL="342900" indent="-342900">
              <a:buSzPct val="100000"/>
              <a:buChar char="●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CLI-01 ~ CLI-08:  dispatch (start/script/log/report/unknown)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     + first-run filesystem (workspace dir, log append)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26280" y="3657600"/>
            <a:ext cx="7178040" cy="2606040"/>
          </a:xfrm>
          <a:prstGeom prst="rect">
            <a:avLst/>
          </a:prstGeom>
          <a:solidFill>
            <a:srgbClr val="FFFFFF"/>
          </a:solidFill>
          <a:ln w="254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4526280" y="3657600"/>
            <a:ext cx="109728" cy="2606040"/>
          </a:xfrm>
          <a:prstGeom prst="rect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4754880" y="37490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🗄️  Migration (24)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754880" y="4160520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 DB → CMT → target round-trip</a:t>
            </a:r>
            <a:endParaRPr lang="en-US" sz="1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4526280"/>
          <a:ext cx="6858000" cy="1463040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시나리오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@Test 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시간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 →  CUBRID online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~70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 →  Dump file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~70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CUBRID  →  CUBRID online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~30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CUBRID  →  Dump file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~30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50292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CMT Console E2E v2  •  발표자료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0972800" y="65379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3 · CLI TESTS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11430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CliTest — 8개 (migration.sh 자체)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1097280" cy="36576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없음.  컨테이너 없음.  순수 binary 의 plumbing 검증.  5초.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1064240" cy="370332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검증 대상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구체 케이스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4A6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CLI-01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도움말 출력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 ./migration.sh   →   start, script, log, report 모두 나열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4A6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CLI-02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 dispatch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 ./migration.sh start &lt;bad&gt;.xml   →   start 도움말 (-sd token)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4A6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CLI-03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 dispatch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 ./migration.sh script   →   script 도움말 (-schema)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4A6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CLI-04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dispatch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 ./migration.sh log   →   log 도움말 (-ps)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4A6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CLI-05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 dispatch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 ./migration.sh report   →   report 도움말 (-ao)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4A6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CLI-06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 command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 ./migration.sh bogus_cmd   →   start 도움말 fallback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4A6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CLI-07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workspace dirs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첫 호출 후  workspace/cmt/log,  workspace/cmt/report  자동 생성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4A6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CLI-08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append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두 번째 호출 시  cubrid-migration.log  크기 증가 (append 동작)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02920" y="5943600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 깨지면 다른 모든 migration 테스트가 무의미.  binary 의 "plumbing 안전망".</a:t>
            </a:r>
            <a:endParaRPr lang="en-US" sz="1300" dirty="0"/>
          </a:p>
        </p:txBody>
      </p:sp>
      <p:sp>
        <p:nvSpPr>
          <p:cNvPr id="7" name="Text 6"/>
          <p:cNvSpPr/>
          <p:nvPr/>
        </p:nvSpPr>
        <p:spPr>
          <a:xfrm>
            <a:off x="50292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CMT Console E2E v2  •  발표자료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972800" y="65379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3 · MIGRATION TESTS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11430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OracleToCubridTest — 10 tests (4-Layer 분리)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1097280" cy="36576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640080" y="1508760"/>
            <a:ext cx="11064240" cy="548640"/>
          </a:xfrm>
          <a:prstGeom prst="rect">
            <a:avLst/>
          </a:prstGeom>
          <a:solidFill>
            <a:srgbClr val="F1F3F7"/>
          </a:solidFill>
          <a:ln w="12700">
            <a:solidFill>
              <a:srgbClr val="F1F3F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77240" y="1554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@MigrationE2E(name = "oracle_to_cubrid")  class OracleToCubridTest extends AbstractMigrationE2E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94560"/>
          <a:ext cx="11064240" cy="3621024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@Test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검증 대상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migration_succeeds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exit 0 + "MIGRATION RESULT: SUCCESS" + no fatal stderr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classes_match_snapshot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모든 user 테이블/뷰가 target catalog 에 존재 (db_class)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synonyms_match_snapshot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cross-schema synonym 보존 (db_synonym)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routines_match_snapshot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 / PROCEDURE 보존 (db_stored_procedure)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grants_match_snapshot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GRANT 권한 보존 (db_auth)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998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columns_match_snapshot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컬럼 타입 / precision / scale / nullable 정확 (db_attribute)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998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indexes_match_snapshot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 / UK / FK / functional + 컬럼 매핑 (db_index + db_index_key)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998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serials_match_snapshot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SEQUENCE → CUBRID SERIAL 의 current_val 보존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998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row_counts_match_snapshot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사용자 모든 테이블의 SELECT COUNT(*) 일치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998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representative_rows_match_snapshot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8개 대표 row spot-check (queries/oracle_to_cubrid.sql)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02920" y="612648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CubridToCubridTest 도 정확히 같은 10 패턴.  source 만 CUBRID 로 다름.</a:t>
            </a:r>
            <a:endParaRPr lang="en-US" sz="1200" dirty="0"/>
          </a:p>
        </p:txBody>
      </p:sp>
      <p:sp>
        <p:nvSpPr>
          <p:cNvPr id="8" name="Text 7"/>
          <p:cNvSpPr/>
          <p:nvPr/>
        </p:nvSpPr>
        <p:spPr>
          <a:xfrm>
            <a:off x="50292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CMT Console E2E v2  •  발표자료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0972800" y="65379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3 · REPRESENTATIVE ROWS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11430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queries/oracle_to_cubrid.sql — 8 spot-check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1097280" cy="36576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8 query 가 통과 = 비즈니스 그래프 + type-test row + view + synonym 모두 round-trip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74520"/>
          <a:ext cx="11064240" cy="3514344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@label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무엇을 검증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 위치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business values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기본 비즈니스 컬럼 (code, name, alias, status, credit_limit)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 = 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order-line composite-key relationship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FK + 2-column composite PK 검증 (3-table JOIN)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order_id=1, line_no=1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 self-reference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FK to self (Manager A → CEO 보존)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employee_id = 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type R_MIN row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 / VARCHAR / NCHAR / NVARCHAR 의 minimum 경계값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 = 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numeric type R_REPRESENTATIVE row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INTEGER / DECIMAL / NUMBER(p,s) 의 대표값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 = 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date R_EPOCH row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1970-01-01 boundary 검증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 = 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 is queryable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VCLASS 가 동작 — SELECT COUNT(*) FROM e2e_order_summary_v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ref_audit synonym access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cross-schema synonym dereference — SELECT COUNT FROM synonym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989320"/>
            <a:ext cx="11064240" cy="457200"/>
          </a:xfrm>
          <a:prstGeom prst="rect">
            <a:avLst/>
          </a:prstGeom>
          <a:solidFill>
            <a:srgbClr val="CADCFC"/>
          </a:solidFill>
          <a:ln w="1270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777240" y="60807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row 컨벤션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(SEED_SPEC §5):  id=1 R_NULL · 2 R_EMPTY · 3 R_MIN · 4 R_MAX · 5 R_UNICODE · 6 R_REPRESENTATIVE · 7 R_BOUNDARY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0292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CMT Console E2E v2  •  발표자료</a:t>
            </a:r>
            <a:endParaRPr lang="en-US" sz="900" dirty="0"/>
          </a:p>
        </p:txBody>
      </p:sp>
      <p:sp>
        <p:nvSpPr>
          <p:cNvPr id="7" name="Text 8"/>
          <p:cNvSpPr/>
          <p:nvPr/>
        </p:nvSpPr>
        <p:spPr>
          <a:xfrm>
            <a:off x="10972800" y="65379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3 · CMT 한계 우회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11430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Anti-coverage + Sanitize Pipeline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1097280" cy="36576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55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CUBRID source 시 발견된 3 종 한계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965960"/>
            <a:ext cx="54864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554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640080" y="1965960"/>
            <a:ext cx="91440" cy="1078992"/>
          </a:xfrm>
          <a:prstGeom prst="rect">
            <a:avLst/>
          </a:prstGeom>
          <a:solidFill>
            <a:srgbClr val="E8554E"/>
          </a:solidFill>
          <a:ln w="12700">
            <a:solidFill>
              <a:srgbClr val="E8554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868680" y="2057400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55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DBA / PUBLIC system schemas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242316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dba 로 introspect → import 시 fail (5 records 누락)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54864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554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640080" y="3172968"/>
            <a:ext cx="91440" cy="1078992"/>
          </a:xfrm>
          <a:prstGeom prst="rect">
            <a:avLst/>
          </a:prstGeom>
          <a:solidFill>
            <a:srgbClr val="E8554E"/>
          </a:solidFill>
          <a:ln w="12700">
            <a:solidFill>
              <a:srgbClr val="E8554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868680" y="3264408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55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/ LIST / SEQUENCE 컬럼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68680" y="3630168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e2e_cubrid_collection_types 의 record round-trip 불가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4379976"/>
            <a:ext cx="54864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554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640080" y="4379976"/>
            <a:ext cx="91440" cy="1078992"/>
          </a:xfrm>
          <a:prstGeom prst="rect">
            <a:avLst/>
          </a:prstGeom>
          <a:solidFill>
            <a:srgbClr val="E8554E"/>
          </a:solidFill>
          <a:ln w="12700">
            <a:solidFill>
              <a:srgbClr val="E8554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868680" y="4471416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55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Functional index (idxf_*)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68680" y="4837176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CUBRIDSchemaFetcher 가 expression 미emit → import fail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55080" y="155448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ScriptXmlBuilder.sanitize() — 5 단계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355080" y="1965960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6355080" y="2002536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858000" y="1965960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&lt;migration name="_yyyymmddhhmm"&gt; timestamp suffix 제거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1064240" y="2029968"/>
            <a:ext cx="384048" cy="256032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11064240" y="2057400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355080" y="2532888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6355080" y="2569464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858000" y="2532888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wizard_start_date_time → "000000000000"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1064240" y="2596896"/>
            <a:ext cx="384048" cy="256032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11064240" y="2624328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355080" y="3099816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6355080" y="3136392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858000" y="3099816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&lt;table name="flyway_schema_history"&gt; 제거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1064240" y="3163824"/>
            <a:ext cx="384048" cy="256032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11064240" y="3191256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355080" y="3666744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6355080" y="3703320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858000" y="3666744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&lt;schema source="DBA"/&gt; + &lt;schema source="PUBLIC"/&gt; 제거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1064240" y="3730752"/>
            <a:ext cx="384048" cy="256032"/>
          </a:xfrm>
          <a:prstGeom prst="rect">
            <a:avLst/>
          </a:prstGeom>
          <a:solidFill>
            <a:srgbClr val="E8554E"/>
          </a:solidFill>
          <a:ln w="12700">
            <a:solidFill>
              <a:srgbClr val="E8554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11064240" y="3758184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6355080" y="4233672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6355080" y="4270248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858000" y="4233672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e2e_cubrid_collection_types + idxf_* 제거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1064240" y="4297680"/>
            <a:ext cx="384048" cy="256032"/>
          </a:xfrm>
          <a:prstGeom prst="rect">
            <a:avLst/>
          </a:prstGeom>
          <a:solidFill>
            <a:srgbClr val="E8554E"/>
          </a:solidFill>
          <a:ln w="12700">
            <a:solidFill>
              <a:srgbClr val="E8554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/>
          <p:nvPr/>
        </p:nvSpPr>
        <p:spPr>
          <a:xfrm>
            <a:off x="11064240" y="4325112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640080" y="5897880"/>
            <a:ext cx="1106424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/>
          <p:nvPr/>
        </p:nvSpPr>
        <p:spPr>
          <a:xfrm>
            <a:off x="777240" y="598932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Framework 가 CMT 한계를 우회.  v2 는 정상 객체의 회귀 보호에 집중.   </a:t>
            </a: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ARCHITECTURE.md  D6~D9 ADR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50292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CMT Console E2E v2  •  발표자료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0972800" y="65379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3 · TOOLS &amp; TEMPLATE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11430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verify/ 8 도구  +  TC 작성 template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1097280" cy="36576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verify/ 8 클래스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920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🧰 Infrastructure (3) — 도구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77240" y="2194560"/>
            <a:ext cx="5349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Tabulator       </a:t>
            </a:r>
            <a:r>
              <a:rPr lang="en-US" sz="11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ResultSet → psql 표 텍스트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SnapshotStore   </a:t>
            </a:r>
            <a:r>
              <a:rPr lang="en-US" sz="11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파일 비교 + -Dsnapshot.update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CatalogQueries  </a:t>
            </a:r>
            <a:r>
              <a:rPr lang="en-US" sz="11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CUBRID catalog SQL 8 종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520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Verifier (5) — 테스트가 직접 호출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77240" y="3794760"/>
            <a:ext cx="5349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CatalogSnapshot </a:t>
            </a:r>
            <a:r>
              <a:rPr lang="en-US" sz="11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run().catalog().matchesSnapshot(...)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RowCounts       </a:t>
            </a:r>
            <a:r>
              <a:rPr lang="en-US" sz="11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run().rowCounts().matchesSnapshot(...)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RowQuery        </a:t>
            </a:r>
            <a:r>
              <a:rPr lang="en-US" sz="11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run().query("SELECT...").firstColumn()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RowQueries      </a:t>
            </a:r>
            <a:r>
              <a:rPr lang="en-US" sz="11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run().queries(file).matchesSnapshot(...)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DumpSnapshot    </a:t>
            </a:r>
            <a:r>
              <a:rPr lang="en-US" sz="11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run().dumpfile().matchesSnapshot()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55080" y="155448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TC 템플릿 (한 사실 = 한 메서드)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355080" y="1920240"/>
            <a:ext cx="5349240" cy="4114800"/>
          </a:xfrm>
          <a:prstGeom prst="rect">
            <a:avLst/>
          </a:prstGeom>
          <a:solidFill>
            <a:srgbClr val="F1F3F7"/>
          </a:solidFill>
          <a:ln w="12700">
            <a:solidFill>
              <a:srgbClr val="F1F3F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492240" y="2011680"/>
            <a:ext cx="51206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@MigrationE2E(name = "oracle_to_cubrid")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OracleToCubridTest extends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AbstractMigrationE2E {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@Override Source source()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Sources.oracleE2eSeed();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@Override Target target()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Targets.cubridOnline();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@Test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@DisplayName("CMT exits 0 + SUCCESS")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void migration_succeeds()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run().expectSuccess()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.expectNoFatalStderr();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@Test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@DisplayName("Indexes preserved")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void indexes_match_snapshot()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c = run().catalog();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c.matchesSnapshot("indexes");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c.matchesSnapshot("index_keys");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한 사실 한 메서드, 1~3 LOC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CMT Console E2E v2  •  발표자료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972800" y="65379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4 · RUN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11430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실행 명령 + Snapshot 갱신 5단계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1097280" cy="36576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실행 명령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874520"/>
            <a:ext cx="5486400" cy="4206240"/>
          </a:xfrm>
          <a:prstGeom prst="rect">
            <a:avLst/>
          </a:prstGeom>
          <a:solidFill>
            <a:srgbClr val="F1F3F7"/>
          </a:solidFill>
          <a:ln w="12700">
            <a:solidFill>
              <a:srgbClr val="F1F3F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77240" y="1965960"/>
            <a:ext cx="53492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사전 준비 (한 번만)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./build.sh -p c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tar xzf target/CMT-*.tar.gz \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--strip-components=1 -C cmt-console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export CMT_CONSOLE_HOME=$(pwd)/cmt-console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전체 회귀 (CI 와 동일)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run --rm e2e-test \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mvn test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단일 시나리오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run --rm e2e-test \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mvn test -Dtest=OracleToCubridTest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단일 사실 (가장 빠른 디버깅)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run --rm e2e-test \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mvn test -Dtest='OracleToCubridTest \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#serials_match_snapshot'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Snapshot 갱신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run --rm e2e-test \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mvn test \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-Dtest='OracleToCubridTest' \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-Dsnapshot.update=true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355080" y="155448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Snapshot 갱신 5단계 protocol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55080" y="1920240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6355080" y="19659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949440" y="19202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어떤 시나리오 갱신?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49440" y="219456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L1/L2/L3 어디가 깨졌는지 파악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355080" y="2761488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6355080" y="28072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949440" y="276148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캡처 모드 실행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949440" y="303580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mvn -Dsnapshot.update=true test -Dtest='...'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355080" y="3602736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355080" y="36484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949440" y="360273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 diff 로 review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949440" y="3877056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각 라인이 "어떤 CMT 동작 변화"인지 설명 가능해야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355080" y="4443984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6355080" y="448970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949440" y="444398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회귀 모드 재실행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949440" y="4718304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-Dsnapshot.update 없이 재실행 → 결정성 확인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55080" y="5285232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6355080" y="53309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949440" y="52852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commit (사유 명시)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949440" y="555955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"Absorb CMT pk naming change"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CMT Console E2E v2  •  발표자료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972800" y="65379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4 · EXTENSIBILITY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11430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새 source DB 추가 — PostgreSQL 예시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1097280" cy="36576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캡처는 자동.  사람은 "무엇을 검증할지"만 정의.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1064240" cy="2926080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12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산출물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내용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누가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PostgresContainer.java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testcontainers 래퍼 (Oracle 패턴 답습)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사람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PostgresDatabaseInitializer.java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Flyway 시드 적용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사람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Sources.postgresE2eSeed()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factory 메서드 추가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사람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db/postgres/V*.sql 시드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dialect 의 SQL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사람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PostgresToCubridTest.java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@Test (50 LOC, Oracle 과 동일 패턴)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사람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queries/postgres_to_cubrid.sql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representative SELECT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사람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snapshot 자동 캡처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 mvn test -Dsnapshot.update=true … → 10 파일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99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166360"/>
            <a:ext cx="11064240" cy="1280160"/>
          </a:xfrm>
          <a:prstGeom prst="rect">
            <a:avLst/>
          </a:prstGeom>
          <a:solidFill>
            <a:srgbClr val="CADCFC"/>
          </a:solidFill>
          <a:ln w="1270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868680" y="525780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7 — 자동 캡처의 의미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68680" y="55778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mvn test -Dtest=PostgresToCubridTest -Dsnapshot.update=true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컨테이너 부팅 + CMT 실행 + 9 catalog 쿼리 + 8 representative query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snapshots/postgres_to_cubrid/*.txt  10 파일 자동 생성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사람은 review + 의사결정만 (anti-coverage 발견 시 sanitize 추가)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0292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CMT Console E2E v2  •  발표자료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0972800" y="65379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0292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4 · CLOSING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11430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v2 가 보호하는 것 / 보호하지 않는 것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1097280" cy="36576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5486400" cy="4023360"/>
          </a:xfrm>
          <a:prstGeom prst="rect">
            <a:avLst/>
          </a:prstGeom>
          <a:solidFill>
            <a:srgbClr val="FFFFFF"/>
          </a:solidFill>
          <a:ln w="254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640080" y="1691640"/>
            <a:ext cx="5486400" cy="502920"/>
          </a:xfrm>
          <a:prstGeom prst="rect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822960" y="1783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✅  보호한다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2331720"/>
            <a:ext cx="51206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CMT 가 죽지 않는다 (exit 0)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coverage  (테이블/인덱스/synonym 등 누락)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fidelity  (값/타입/null/precision)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컬럼 매핑 + asc/desc + composite key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Sequence/Serial current_val 보존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Cross-schema synonym + grant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/ PROCEDURE 코드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Dump 파일 형식 (DDL + 인덱스 + data)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알려진 CMT 한계의 회귀 (sanitize 가 막는 영역)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55080" y="1691640"/>
            <a:ext cx="5486400" cy="4023360"/>
          </a:xfrm>
          <a:prstGeom prst="rect">
            <a:avLst/>
          </a:prstGeom>
          <a:solidFill>
            <a:srgbClr val="FFFFFF"/>
          </a:solidFill>
          <a:ln w="25400">
            <a:solidFill>
              <a:srgbClr val="E8554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6355080" y="1691640"/>
            <a:ext cx="5486400" cy="502920"/>
          </a:xfrm>
          <a:prstGeom prst="rect">
            <a:avLst/>
          </a:prstGeom>
          <a:solidFill>
            <a:srgbClr val="E8554E"/>
          </a:solidFill>
          <a:ln w="12700">
            <a:solidFill>
              <a:srgbClr val="E8554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6537960" y="1783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✗  보호하지 않는다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537960" y="2331720"/>
            <a:ext cx="51206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성능 (속도, 메모리 사용량)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동시성 / race condition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100,000 row 같은 큰 데이터셋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알려지지 않은 새 source DB 의 한계 발견</a:t>
            </a:r>
            <a:endParaRPr lang="en-US" sz="1300" dirty="0"/>
          </a:p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↳  별도 시나리오로 추가해야 발견 가능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/ 그래픽 콘솔 동작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Anti-coverage 결정된 케이스</a:t>
            </a:r>
            <a:endParaRPr lang="en-US" sz="1300" dirty="0"/>
          </a:p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↳  CUBRID collection types, idxf_*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5852160"/>
            <a:ext cx="11064240" cy="5486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77724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 &amp; A   ─   다음 단계: PR review · DEFERRED DB 우선순위 · L4 regression 추가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0292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CMT Console E2E v2  •  발표자료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972800" y="65379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5" name="Text"/>
          <p:cNvSpPr/>
          <p:nvPr/>
        </p:nvSpPr>
        <p:spPr>
          <a:xfrm>
            <a:off x="50292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4 · DB ROSTER</a:t>
            </a:r>
            <a:endParaRPr lang="en-US" sz="1100" dirty="0"/>
          </a:p>
        </p:txBody>
      </p:sp>
      <p:sp>
        <p:nvSpPr>
          <p:cNvPr id="873" name="Text"/>
          <p:cNvSpPr/>
          <p:nvPr/>
        </p:nvSpPr>
        <p:spPr>
          <a:xfrm>
            <a:off x="502920" y="548640"/>
            <a:ext cx="11430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PoC source DB 7개 — 활성 2개 / 보류 5개</a:t>
            </a:r>
            <a:endParaRPr lang="en-US" sz="3200" dirty="0"/>
          </a:p>
        </p:txBody>
      </p:sp>
      <p:sp>
        <p:nvSpPr>
          <p:cNvPr id="5" name="Shape"/>
          <p:cNvSpPr/>
          <p:nvPr/>
        </p:nvSpPr>
        <p:spPr>
          <a:xfrm>
            <a:off x="502920" y="1325880"/>
            <a:ext cx="1097280" cy="36576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100" name="DB Roster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6327406"/>
              </p:ext>
            </p:extLst>
          </p:nvPr>
        </p:nvGraphicFramePr>
        <p:xfrm>
          <a:off x="609600" y="1554480"/>
          <a:ext cx="10972800" cy="346956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58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DB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이유 (TC 미작성 시)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11g XE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CUBRID 11.4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5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MariaDB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>
                          <a:solidFill>
                            <a:srgbClr val="E855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ko-KR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MySQL </a:t>
                      </a:r>
                      <a:r>
                        <a:rPr lang="ko-KR" altLang="en-US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의 모든 결함을 별도 복사로 그대로 보유</a:t>
                      </a:r>
                      <a:r>
                        <a:rPr lang="en-US" altLang="ko-KR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. </a:t>
                      </a:r>
                      <a:r>
                        <a:rPr lang="en" altLang="ko-KR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MariaDB </a:t>
                      </a:r>
                      <a:r>
                        <a:rPr lang="ko-KR" altLang="en-US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고유 항목 </a:t>
                      </a:r>
                      <a:r>
                        <a:rPr lang="en-US" altLang="ko-KR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(</a:t>
                      </a:r>
                      <a:r>
                        <a:rPr lang="en" altLang="ko-KR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native SEQUENCE, functional index, GENERATED column, temporal table) </a:t>
                      </a:r>
                      <a:r>
                        <a:rPr lang="ko-KR" altLang="en-US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추가 결정 필요</a:t>
                      </a:r>
                      <a:r>
                        <a:rPr lang="en-US" altLang="ko-KR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5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MySQL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>
                          <a:solidFill>
                            <a:srgbClr val="E855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3</a:t>
                      </a:r>
                      <a:r>
                        <a:rPr lang="ko-KR" altLang="en-US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중 </a:t>
                      </a:r>
                      <a:r>
                        <a:rPr lang="en" altLang="ko-KR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CMT </a:t>
                      </a:r>
                      <a:r>
                        <a:rPr lang="ko-KR" altLang="en-US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결함</a:t>
                      </a:r>
                      <a:r>
                        <a:rPr lang="en-US" altLang="ko-KR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: </a:t>
                      </a:r>
                      <a:r>
                        <a:rPr lang="en" altLang="ko-KR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schema </a:t>
                      </a:r>
                      <a:r>
                        <a:rPr lang="ko-KR" altLang="en-US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인식 </a:t>
                      </a:r>
                      <a:r>
                        <a:rPr lang="en" altLang="ko-KR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default </a:t>
                      </a:r>
                      <a:r>
                        <a:rPr lang="ko-KR" altLang="en-US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버그 </a:t>
                      </a:r>
                      <a:r>
                        <a:rPr lang="en-US" altLang="ko-KR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+ </a:t>
                      </a:r>
                      <a:r>
                        <a:rPr lang="en" altLang="ko-KR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JSON </a:t>
                      </a:r>
                      <a:r>
                        <a:rPr lang="ko-KR" altLang="en-US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매핑 부재 </a:t>
                      </a:r>
                      <a:r>
                        <a:rPr lang="en-US" altLang="ko-KR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+ </a:t>
                      </a:r>
                      <a:r>
                        <a:rPr lang="en" altLang="ko-KR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MySQL 8.0 </a:t>
                      </a:r>
                      <a:r>
                        <a:rPr lang="ko-KR" altLang="en-US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의 </a:t>
                      </a:r>
                      <a:r>
                        <a:rPr lang="en" altLang="ko-KR" sz="1200" dirty="0" err="1"/>
                        <a:t>mysql.proc</a:t>
                      </a:r>
                      <a:r>
                        <a:rPr lang="en" altLang="ko-KR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 </a:t>
                      </a:r>
                      <a:r>
                        <a:rPr lang="ko-KR" altLang="en-US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미존재로 </a:t>
                      </a:r>
                      <a:r>
                        <a:rPr lang="en" altLang="ko-KR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procedure fetch </a:t>
                      </a:r>
                      <a:r>
                        <a:rPr lang="ko-KR" altLang="en-US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실패</a:t>
                      </a:r>
                      <a:r>
                        <a:rPr lang="en-US" altLang="ko-KR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. </a:t>
                      </a:r>
                      <a:r>
                        <a:rPr lang="ko-KR" altLang="en-US" sz="1200" b="0" i="0" dirty="0" err="1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시드</a:t>
                      </a:r>
                      <a:r>
                        <a:rPr lang="ko-KR" altLang="en-US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 추가가 아니라 </a:t>
                      </a:r>
                      <a:r>
                        <a:rPr lang="en" altLang="ko-KR" sz="1200" b="0" i="1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plugin </a:t>
                      </a:r>
                      <a:r>
                        <a:rPr lang="ko-KR" altLang="en-US" sz="1200" b="0" i="1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코드 자체 패치</a:t>
                      </a:r>
                      <a:r>
                        <a:rPr lang="ko-KR" altLang="en-US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 필요</a:t>
                      </a:r>
                      <a:r>
                        <a:rPr lang="en-US" altLang="ko-KR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.</a:t>
                      </a:r>
                      <a:endParaRPr lang="en-US" altLang="ko-KR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5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MSSQL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>
                          <a:solidFill>
                            <a:srgbClr val="E855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ko-KR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TLS </a:t>
                      </a:r>
                      <a:r>
                        <a:rPr lang="ko-KR" altLang="en-US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옵션 </a:t>
                      </a:r>
                      <a:r>
                        <a:rPr lang="en-US" altLang="ko-KR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1</a:t>
                      </a:r>
                      <a:r>
                        <a:rPr lang="ko-KR" altLang="en-US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줄 패치가 진입 잠금 해제</a:t>
                      </a:r>
                      <a:r>
                        <a:rPr lang="en-US" altLang="ko-KR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. </a:t>
                      </a:r>
                      <a:r>
                        <a:rPr lang="ko-KR" altLang="en-US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그 후 </a:t>
                      </a:r>
                      <a:r>
                        <a:rPr lang="en" altLang="ko-KR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routine/trigger/sequence fetcher </a:t>
                      </a:r>
                      <a:r>
                        <a:rPr lang="ko-KR" altLang="en-US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작성 </a:t>
                      </a:r>
                      <a:r>
                        <a:rPr lang="en-US" altLang="ko-KR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+ </a:t>
                      </a:r>
                      <a:r>
                        <a:rPr lang="en" altLang="ko-KR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CLR </a:t>
                      </a:r>
                      <a:r>
                        <a:rPr lang="ko-KR" altLang="en-US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타입 </a:t>
                      </a:r>
                      <a:r>
                        <a:rPr lang="en" altLang="ko-KR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anti-coverage </a:t>
                      </a:r>
                      <a:r>
                        <a:rPr lang="ko-KR" altLang="en-US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결정</a:t>
                      </a:r>
                      <a:r>
                        <a:rPr lang="en-US" altLang="ko-KR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. 5</a:t>
                      </a:r>
                      <a:r>
                        <a:rPr lang="ko-KR" altLang="en-US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개 중 가장 </a:t>
                      </a:r>
                      <a:r>
                        <a:rPr lang="en" altLang="ko-KR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cherry-pick </a:t>
                      </a:r>
                      <a:r>
                        <a:rPr lang="ko-KR" altLang="en-US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비용 낮음</a:t>
                      </a:r>
                      <a:r>
                        <a:rPr lang="en-US" altLang="ko-KR" sz="1200" b="0" i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5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Informix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>
                          <a:solidFill>
                            <a:srgbClr val="E855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ko-KR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DDL </a:t>
                      </a:r>
                      <a:r>
                        <a:rPr lang="ko-KR" altLang="en-US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방언이 가장 까다로움 </a:t>
                      </a:r>
                      <a:r>
                        <a:rPr lang="en-US" altLang="ko-KR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+ </a:t>
                      </a:r>
                      <a:r>
                        <a:rPr lang="en" altLang="ko-KR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Procedure/Function/Trigger </a:t>
                      </a:r>
                      <a:r>
                        <a:rPr lang="ko-KR" altLang="en-US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가 </a:t>
                      </a:r>
                      <a:r>
                        <a:rPr lang="en" altLang="ko-KR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CMT scheduler </a:t>
                      </a:r>
                      <a:r>
                        <a:rPr lang="ko-KR" altLang="en-US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레벨 </a:t>
                      </a:r>
                      <a:r>
                        <a:rPr lang="en" altLang="ko-KR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anti-coverage (</a:t>
                      </a:r>
                      <a:r>
                        <a:rPr lang="en" altLang="ko-KR" sz="1200" dirty="0"/>
                        <a:t>MigrationTasksScheduler.java:146-153</a:t>
                      </a:r>
                      <a:r>
                        <a:rPr lang="en" altLang="ko-KR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 </a:t>
                      </a:r>
                      <a:r>
                        <a:rPr lang="ko-KR" altLang="en-US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가 </a:t>
                      </a:r>
                      <a:r>
                        <a:rPr lang="en" altLang="ko-KR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Oracle/</a:t>
                      </a:r>
                      <a:r>
                        <a:rPr lang="en" altLang="ko-KR" sz="1200" b="0" i="0" dirty="0" err="1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Tibero</a:t>
                      </a:r>
                      <a:r>
                        <a:rPr lang="en" altLang="ko-KR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만 분기</a:t>
                      </a:r>
                      <a:r>
                        <a:rPr lang="en-US" altLang="ko-KR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). </a:t>
                      </a:r>
                      <a:r>
                        <a:rPr lang="ko-KR" altLang="en-US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살아있는 부분이 많아 비교적 살릴 만함</a:t>
                      </a:r>
                      <a:r>
                        <a:rPr lang="en-US" altLang="ko-KR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5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Tibero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>
                          <a:solidFill>
                            <a:srgbClr val="E855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코드는 가장 잘 돼 있는데 라이선스</a:t>
                      </a:r>
                      <a:r>
                        <a:rPr lang="en-US" altLang="ko-KR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+</a:t>
                      </a:r>
                      <a:r>
                        <a:rPr lang="en" altLang="ko-KR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JDBC jar </a:t>
                      </a:r>
                      <a:r>
                        <a:rPr lang="ko-KR" altLang="en-US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가 비공개라 컨테이너 자체를 띄울 길 없음</a:t>
                      </a:r>
                      <a:r>
                        <a:rPr lang="en-US" altLang="ko-KR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. </a:t>
                      </a:r>
                      <a:r>
                        <a:rPr lang="ko-KR" altLang="en-US" sz="1200" b="0" i="0" dirty="0" err="1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시드</a:t>
                      </a:r>
                      <a:r>
                        <a:rPr lang="ko-KR" altLang="en-US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 </a:t>
                      </a:r>
                      <a:r>
                        <a:rPr lang="en" altLang="ko-KR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SQL 0</a:t>
                      </a:r>
                      <a:r>
                        <a:rPr lang="ko-KR" altLang="en-US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줄</a:t>
                      </a:r>
                      <a:r>
                        <a:rPr lang="en-US" altLang="ko-KR" sz="1200" b="0" i="0" dirty="0">
                          <a:solidFill>
                            <a:srgbClr val="0A0A0A"/>
                          </a:solidFill>
                          <a:effectLst/>
                          <a:latin typeface="Anthropic Sans"/>
                        </a:rPr>
                        <a:t>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00" name="Shape"/>
          <p:cNvSpPr/>
          <p:nvPr/>
        </p:nvSpPr>
        <p:spPr>
          <a:xfrm>
            <a:off x="502920" y="6240000"/>
            <a:ext cx="4500000" cy="180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1" name="Text"/>
          <p:cNvSpPr/>
          <p:nvPr/>
        </p:nvSpPr>
        <p:spPr>
          <a:xfrm>
            <a:off x="502920" y="6300000"/>
            <a:ext cx="80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CMT Console E2E v2  •  발표자료</a:t>
            </a:r>
            <a:endParaRPr lang="en-US" sz="900" dirty="0"/>
          </a:p>
        </p:txBody>
      </p:sp>
      <p:sp>
        <p:nvSpPr>
          <p:cNvPr id="508" name="Text"/>
          <p:cNvSpPr/>
          <p:nvPr/>
        </p:nvSpPr>
        <p:spPr>
          <a:xfrm>
            <a:off x="10500000" y="6300000"/>
            <a:ext cx="15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1240</TotalTime>
  <Words>2946</Words>
  <Application>Microsoft Macintosh PowerPoint</Application>
  <PresentationFormat>와이드스크린</PresentationFormat>
  <Paragraphs>520</Paragraphs>
  <Slides>16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2" baseType="lpstr">
      <vt:lpstr>Anthropic Sans</vt:lpstr>
      <vt:lpstr>Arial</vt:lpstr>
      <vt:lpstr>Calibri</vt:lpstr>
      <vt:lpstr>Cambria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CMT Console E2E v2</dc:title>
  <dc:subject>PptxGenJS Presentation</dc:subject>
  <dc:creator>CUBRID</dc:creator>
  <cp:lastModifiedBy>김동민(dongmin.kim)</cp:lastModifiedBy>
  <cp:revision>4</cp:revision>
  <dcterms:created xsi:type="dcterms:W3CDTF">2026-04-29T14:50:37Z</dcterms:created>
  <dcterms:modified xsi:type="dcterms:W3CDTF">2026-04-30T12:10:54Z</dcterms:modified>
</cp:coreProperties>
</file>